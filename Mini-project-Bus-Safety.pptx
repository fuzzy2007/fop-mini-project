
<file path=[Content_Types].xml><?xml version="1.0" encoding="utf-8"?>
<Types xmlns="http://schemas.openxmlformats.org/package/2006/content-types">
  <Default ContentType="image/svg+xml" Extension="sv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953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227427"/>
            <a:ext cx="6318409"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Mini-project: Bus Safety</a:t>
            </a:r>
            <a:endParaRPr lang="en-US" sz="4450" dirty="0"/>
          </a:p>
        </p:txBody>
      </p:sp>
      <p:sp>
        <p:nvSpPr>
          <p:cNvPr id="4" name="Text 1"/>
          <p:cNvSpPr/>
          <p:nvPr/>
        </p:nvSpPr>
        <p:spPr>
          <a:xfrm>
            <a:off x="6280190" y="427636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A comprehensive guide to understanding a C program that helps travelers find the safest bus routes between cities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75323" y="530662"/>
            <a:ext cx="1032986" cy="344329"/>
          </a:xfrm>
          <a:prstGeom prst="roundRect">
            <a:avLst>
              <a:gd name="adj" fmla="val 6726"/>
            </a:avLst>
          </a:prstGeom>
          <a:solidFill>
            <a:srgbClr val="4A0303"/>
          </a:solidFill>
          <a:ln/>
        </p:spPr>
      </p:sp>
      <p:sp>
        <p:nvSpPr>
          <p:cNvPr id="3" name="Text 1"/>
          <p:cNvSpPr/>
          <p:nvPr/>
        </p:nvSpPr>
        <p:spPr>
          <a:xfrm>
            <a:off x="791051" y="588526"/>
            <a:ext cx="801529" cy="228600"/>
          </a:xfrm>
          <a:prstGeom prst="rect">
            <a:avLst/>
          </a:prstGeom>
          <a:noFill/>
          <a:ln/>
        </p:spPr>
        <p:txBody>
          <a:bodyPr wrap="none" lIns="0" tIns="0" rIns="0" bIns="0" rtlCol="0" anchor="t"/>
          <a:lstStyle/>
          <a:p>
            <a:pPr marL="0" indent="0" algn="l">
              <a:lnSpc>
                <a:spcPts val="1750"/>
              </a:lnSpc>
              <a:buNone/>
            </a:pPr>
            <a:r>
              <a:rPr lang="en-US" sz="1200" dirty="0">
                <a:solidFill>
                  <a:srgbClr val="C7CDD6"/>
                </a:solidFill>
                <a:latin typeface="Inter" pitchFamily="34" charset="0"/>
                <a:ea typeface="Inter" pitchFamily="34" charset="-122"/>
                <a:cs typeface="Inter" pitchFamily="34" charset="-120"/>
              </a:rPr>
              <a:t>OVERVIEW</a:t>
            </a:r>
            <a:endParaRPr lang="en-US" sz="1200" dirty="0"/>
          </a:p>
        </p:txBody>
      </p:sp>
      <p:sp>
        <p:nvSpPr>
          <p:cNvPr id="4" name="Text 2"/>
          <p:cNvSpPr/>
          <p:nvPr/>
        </p:nvSpPr>
        <p:spPr>
          <a:xfrm>
            <a:off x="675323" y="940594"/>
            <a:ext cx="5629751" cy="603052"/>
          </a:xfrm>
          <a:prstGeom prst="rect">
            <a:avLst/>
          </a:prstGeom>
          <a:noFill/>
          <a:ln/>
        </p:spPr>
        <p:txBody>
          <a:bodyPr wrap="none" lIns="0" tIns="0" rIns="0" bIns="0" rtlCol="0" anchor="t"/>
          <a:lstStyle/>
          <a:p>
            <a:pPr marL="0" indent="0" algn="l">
              <a:lnSpc>
                <a:spcPts val="4700"/>
              </a:lnSpc>
              <a:buNone/>
            </a:pPr>
            <a:r>
              <a:rPr lang="en-US" sz="3750" dirty="0">
                <a:solidFill>
                  <a:srgbClr val="EFD5FA"/>
                </a:solidFill>
                <a:latin typeface="Instrument Sans Medium" pitchFamily="34" charset="0"/>
                <a:ea typeface="Instrument Sans Medium" pitchFamily="34" charset="-122"/>
                <a:cs typeface="Instrument Sans Medium" pitchFamily="34" charset="-120"/>
              </a:rPr>
              <a:t>What This Program Does</a:t>
            </a:r>
            <a:endParaRPr lang="en-US" sz="3750" dirty="0"/>
          </a:p>
        </p:txBody>
      </p:sp>
      <p:pic>
        <p:nvPicPr>
          <p:cNvPr id="5" name="Image 0" descr="preencoded.png"/>
          <p:cNvPicPr>
            <a:picLocks noChangeAspect="1"/>
          </p:cNvPicPr>
          <p:nvPr/>
        </p:nvPicPr>
        <p:blipFill>
          <a:blip r:embed="rId3"/>
          <a:stretch>
            <a:fillRect/>
          </a:stretch>
        </p:blipFill>
        <p:spPr>
          <a:xfrm>
            <a:off x="675323" y="1974533"/>
            <a:ext cx="8467011" cy="5637609"/>
          </a:xfrm>
          <a:prstGeom prst="rect">
            <a:avLst/>
          </a:prstGeom>
        </p:spPr>
      </p:pic>
      <p:sp>
        <p:nvSpPr>
          <p:cNvPr id="6" name="Text 3"/>
          <p:cNvSpPr/>
          <p:nvPr/>
        </p:nvSpPr>
        <p:spPr>
          <a:xfrm>
            <a:off x="9620726" y="3576399"/>
            <a:ext cx="4341852" cy="1428750"/>
          </a:xfrm>
          <a:prstGeom prst="rect">
            <a:avLst/>
          </a:prstGeom>
          <a:noFill/>
          <a:ln/>
        </p:spPr>
        <p:txBody>
          <a:bodyPr wrap="square" lIns="0" tIns="0" rIns="0" bIns="0" rtlCol="0" anchor="t"/>
          <a:lstStyle/>
          <a:p>
            <a:pPr marL="0" indent="0" algn="l">
              <a:lnSpc>
                <a:spcPts val="2200"/>
              </a:lnSpc>
              <a:buNone/>
            </a:pPr>
            <a:r>
              <a:rPr lang="en-US" sz="1500" dirty="0">
                <a:solidFill>
                  <a:srgbClr val="C7CDD6"/>
                </a:solidFill>
                <a:latin typeface="Inter" pitchFamily="34" charset="0"/>
                <a:ea typeface="Inter" pitchFamily="34" charset="-122"/>
                <a:cs typeface="Inter" pitchFamily="34" charset="-120"/>
              </a:rPr>
              <a:t>This smart bus routing system helps passengers find safe travel options by analyzing risk levels of different bus routes. It searches for direct routes first, then checks connecting routes if needed.</a:t>
            </a:r>
            <a:endParaRPr lang="en-US" sz="1500" dirty="0"/>
          </a:p>
        </p:txBody>
      </p:sp>
      <p:sp>
        <p:nvSpPr>
          <p:cNvPr id="7" name="Text 4"/>
          <p:cNvSpPr/>
          <p:nvPr/>
        </p:nvSpPr>
        <p:spPr>
          <a:xfrm>
            <a:off x="9620726" y="5152906"/>
            <a:ext cx="4341852" cy="857250"/>
          </a:xfrm>
          <a:prstGeom prst="rect">
            <a:avLst/>
          </a:prstGeom>
          <a:noFill/>
          <a:ln/>
        </p:spPr>
        <p:txBody>
          <a:bodyPr wrap="square" lIns="0" tIns="0" rIns="0" bIns="0" rtlCol="0" anchor="t"/>
          <a:lstStyle/>
          <a:p>
            <a:pPr marL="0" indent="0" algn="l">
              <a:lnSpc>
                <a:spcPts val="2200"/>
              </a:lnSpc>
              <a:buNone/>
            </a:pPr>
            <a:r>
              <a:rPr lang="en-US" sz="1500" dirty="0">
                <a:solidFill>
                  <a:srgbClr val="C7CDD6"/>
                </a:solidFill>
                <a:latin typeface="Inter" pitchFamily="34" charset="0"/>
                <a:ea typeface="Inter" pitchFamily="34" charset="-122"/>
                <a:cs typeface="Inter" pitchFamily="34" charset="-120"/>
              </a:rPr>
              <a:t>The program maintains a database of buses with departure times, destinations, and safety ratings to recommend the safest journey.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154317"/>
            <a:ext cx="10055304"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Program Structure: Core Components</a:t>
            </a:r>
            <a:endParaRPr lang="en-US" sz="4450" dirty="0"/>
          </a:p>
        </p:txBody>
      </p:sp>
      <p:sp>
        <p:nvSpPr>
          <p:cNvPr id="3" name="Shape 1"/>
          <p:cNvSpPr/>
          <p:nvPr/>
        </p:nvSpPr>
        <p:spPr>
          <a:xfrm>
            <a:off x="793790" y="3316724"/>
            <a:ext cx="3090505" cy="2758559"/>
          </a:xfrm>
          <a:prstGeom prst="roundRect">
            <a:avLst>
              <a:gd name="adj" fmla="val 1233"/>
            </a:avLst>
          </a:prstGeom>
          <a:solidFill>
            <a:srgbClr val="434348"/>
          </a:solidFill>
          <a:ln/>
        </p:spPr>
      </p:sp>
      <p:sp>
        <p:nvSpPr>
          <p:cNvPr id="4" name="Text 2"/>
          <p:cNvSpPr/>
          <p:nvPr/>
        </p:nvSpPr>
        <p:spPr>
          <a:xfrm>
            <a:off x="1020604" y="3543538"/>
            <a:ext cx="2636877"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Header Files</a:t>
            </a:r>
            <a:endParaRPr lang="en-US" sz="2200" dirty="0"/>
          </a:p>
        </p:txBody>
      </p:sp>
      <p:sp>
        <p:nvSpPr>
          <p:cNvPr id="5" name="Text 3"/>
          <p:cNvSpPr/>
          <p:nvPr/>
        </p:nvSpPr>
        <p:spPr>
          <a:xfrm>
            <a:off x="1020604" y="4033957"/>
            <a:ext cx="2636877"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stdio.h for input/output and string.h for text comparison functions</a:t>
            </a:r>
            <a:endParaRPr lang="en-US" sz="1750" dirty="0"/>
          </a:p>
        </p:txBody>
      </p:sp>
      <p:sp>
        <p:nvSpPr>
          <p:cNvPr id="6" name="Shape 4"/>
          <p:cNvSpPr/>
          <p:nvPr/>
        </p:nvSpPr>
        <p:spPr>
          <a:xfrm>
            <a:off x="4111109" y="3316724"/>
            <a:ext cx="3090624" cy="2758559"/>
          </a:xfrm>
          <a:prstGeom prst="roundRect">
            <a:avLst>
              <a:gd name="adj" fmla="val 1233"/>
            </a:avLst>
          </a:prstGeom>
          <a:solidFill>
            <a:srgbClr val="434348"/>
          </a:solidFill>
          <a:ln/>
        </p:spPr>
      </p:sp>
      <p:sp>
        <p:nvSpPr>
          <p:cNvPr id="7" name="Text 5"/>
          <p:cNvSpPr/>
          <p:nvPr/>
        </p:nvSpPr>
        <p:spPr>
          <a:xfrm>
            <a:off x="4337923" y="3543538"/>
            <a:ext cx="2636996"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Constants</a:t>
            </a:r>
            <a:endParaRPr lang="en-US" sz="2200" dirty="0"/>
          </a:p>
        </p:txBody>
      </p:sp>
      <p:sp>
        <p:nvSpPr>
          <p:cNvPr id="8" name="Text 6"/>
          <p:cNvSpPr/>
          <p:nvPr/>
        </p:nvSpPr>
        <p:spPr>
          <a:xfrm>
            <a:off x="4337923" y="4033957"/>
            <a:ext cx="2636996" cy="1814513"/>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MAX_BUSES (10) limits array size, SAFETY_THRESHOLD (12) defines acceptable risk</a:t>
            </a:r>
            <a:endParaRPr lang="en-US" sz="1750" dirty="0"/>
          </a:p>
        </p:txBody>
      </p:sp>
      <p:sp>
        <p:nvSpPr>
          <p:cNvPr id="9" name="Shape 7"/>
          <p:cNvSpPr/>
          <p:nvPr/>
        </p:nvSpPr>
        <p:spPr>
          <a:xfrm>
            <a:off x="7428548" y="3316724"/>
            <a:ext cx="3090624" cy="2758559"/>
          </a:xfrm>
          <a:prstGeom prst="roundRect">
            <a:avLst>
              <a:gd name="adj" fmla="val 1233"/>
            </a:avLst>
          </a:prstGeom>
          <a:solidFill>
            <a:srgbClr val="434348"/>
          </a:solidFill>
          <a:ln/>
        </p:spPr>
      </p:sp>
      <p:sp>
        <p:nvSpPr>
          <p:cNvPr id="10" name="Text 8"/>
          <p:cNvSpPr/>
          <p:nvPr/>
        </p:nvSpPr>
        <p:spPr>
          <a:xfrm>
            <a:off x="7655362" y="3543538"/>
            <a:ext cx="2636996"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Bus Structure</a:t>
            </a:r>
            <a:endParaRPr lang="en-US" sz="2200" dirty="0"/>
          </a:p>
        </p:txBody>
      </p:sp>
      <p:sp>
        <p:nvSpPr>
          <p:cNvPr id="11" name="Text 9"/>
          <p:cNvSpPr/>
          <p:nvPr/>
        </p:nvSpPr>
        <p:spPr>
          <a:xfrm>
            <a:off x="7655362" y="4033957"/>
            <a:ext cx="2636996"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Stores ID, cities, times, and risk level for each bus route</a:t>
            </a:r>
            <a:endParaRPr lang="en-US" sz="1750" dirty="0"/>
          </a:p>
        </p:txBody>
      </p:sp>
      <p:sp>
        <p:nvSpPr>
          <p:cNvPr id="12" name="Shape 10"/>
          <p:cNvSpPr/>
          <p:nvPr/>
        </p:nvSpPr>
        <p:spPr>
          <a:xfrm>
            <a:off x="10745986" y="3316724"/>
            <a:ext cx="3090624" cy="2758559"/>
          </a:xfrm>
          <a:prstGeom prst="roundRect">
            <a:avLst>
              <a:gd name="adj" fmla="val 1233"/>
            </a:avLst>
          </a:prstGeom>
          <a:solidFill>
            <a:srgbClr val="434348"/>
          </a:solidFill>
          <a:ln/>
        </p:spPr>
      </p:sp>
      <p:sp>
        <p:nvSpPr>
          <p:cNvPr id="13" name="Text 11"/>
          <p:cNvSpPr/>
          <p:nvPr/>
        </p:nvSpPr>
        <p:spPr>
          <a:xfrm>
            <a:off x="10972800" y="3543538"/>
            <a:ext cx="2636996"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Helper Function</a:t>
            </a:r>
            <a:endParaRPr lang="en-US" sz="2200" dirty="0"/>
          </a:p>
        </p:txBody>
      </p:sp>
      <p:sp>
        <p:nvSpPr>
          <p:cNvPr id="14" name="Text 12"/>
          <p:cNvSpPr/>
          <p:nvPr/>
        </p:nvSpPr>
        <p:spPr>
          <a:xfrm>
            <a:off x="10972800" y="4033957"/>
            <a:ext cx="2636996"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calculateDuration() computes travel time in minutes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09732" y="557570"/>
            <a:ext cx="6686907" cy="633651"/>
          </a:xfrm>
          <a:prstGeom prst="rect">
            <a:avLst/>
          </a:prstGeom>
          <a:noFill/>
          <a:ln/>
        </p:spPr>
        <p:txBody>
          <a:bodyPr wrap="none" lIns="0" tIns="0" rIns="0" bIns="0" rtlCol="0" anchor="t"/>
          <a:lstStyle/>
          <a:p>
            <a:pPr marL="0" indent="0" algn="l">
              <a:lnSpc>
                <a:spcPts val="4950"/>
              </a:lnSpc>
              <a:buNone/>
            </a:pPr>
            <a:r>
              <a:rPr lang="en-US" sz="3950" dirty="0">
                <a:solidFill>
                  <a:srgbClr val="EFD5FA"/>
                </a:solidFill>
                <a:latin typeface="Instrument Sans Medium" pitchFamily="34" charset="0"/>
                <a:ea typeface="Instrument Sans Medium" pitchFamily="34" charset="-122"/>
                <a:cs typeface="Instrument Sans Medium" pitchFamily="34" charset="-120"/>
              </a:rPr>
              <a:t>The Bus Structure Explained</a:t>
            </a:r>
            <a:endParaRPr lang="en-US" sz="3950" dirty="0"/>
          </a:p>
        </p:txBody>
      </p:sp>
      <p:pic>
        <p:nvPicPr>
          <p:cNvPr id="3" name="Image 0" descr="preencoded.png"/>
          <p:cNvPicPr>
            <a:picLocks noChangeAspect="1"/>
          </p:cNvPicPr>
          <p:nvPr/>
        </p:nvPicPr>
        <p:blipFill>
          <a:blip r:embed="rId3"/>
          <a:stretch>
            <a:fillRect/>
          </a:stretch>
        </p:blipFill>
        <p:spPr>
          <a:xfrm>
            <a:off x="913090" y="1666875"/>
            <a:ext cx="8007072" cy="5889784"/>
          </a:xfrm>
          <a:prstGeom prst="rect">
            <a:avLst/>
          </a:prstGeom>
        </p:spPr>
      </p:pic>
      <p:sp>
        <p:nvSpPr>
          <p:cNvPr id="4" name="Text 1"/>
          <p:cNvSpPr/>
          <p:nvPr/>
        </p:nvSpPr>
        <p:spPr>
          <a:xfrm>
            <a:off x="1453718" y="5173157"/>
            <a:ext cx="2405958" cy="300745"/>
          </a:xfrm>
          <a:prstGeom prst="rect">
            <a:avLst/>
          </a:prstGeom>
          <a:noFill/>
          <a:ln/>
        </p:spPr>
        <p:txBody>
          <a:bodyPr wrap="none" lIns="0" tIns="0" rIns="0" bIns="0" rtlCol="0" anchor="t"/>
          <a:lstStyle/>
          <a:p>
            <a:pPr marL="0" indent="0" algn="ctr">
              <a:lnSpc>
                <a:spcPts val="2350"/>
              </a:lnSpc>
              <a:buNone/>
            </a:pPr>
            <a:r>
              <a:rPr lang="en-US" sz="1850" dirty="0">
                <a:solidFill>
                  <a:srgbClr val="000000"/>
                </a:solidFill>
                <a:latin typeface="Instrument Sans Medium" pitchFamily="34" charset="0"/>
                <a:ea typeface="Instrument Sans Medium" pitchFamily="34" charset="-122"/>
                <a:cs typeface="Instrument Sans Medium" pitchFamily="34" charset="-120"/>
              </a:rPr>
              <a:t>bus_id (int)</a:t>
            </a:r>
            <a:endParaRPr lang="en-US" sz="1850" dirty="0"/>
          </a:p>
        </p:txBody>
      </p:sp>
      <p:sp>
        <p:nvSpPr>
          <p:cNvPr id="5" name="Text 2"/>
          <p:cNvSpPr/>
          <p:nvPr/>
        </p:nvSpPr>
        <p:spPr>
          <a:xfrm>
            <a:off x="4346214" y="3622651"/>
            <a:ext cx="1988925" cy="300745"/>
          </a:xfrm>
          <a:prstGeom prst="rect">
            <a:avLst/>
          </a:prstGeom>
          <a:noFill/>
          <a:ln/>
        </p:spPr>
        <p:txBody>
          <a:bodyPr wrap="none" lIns="0" tIns="0" rIns="0" bIns="0" rtlCol="0" anchor="t"/>
          <a:lstStyle/>
          <a:p>
            <a:pPr marL="0" indent="0" algn="ctr">
              <a:lnSpc>
                <a:spcPts val="2350"/>
              </a:lnSpc>
              <a:buNone/>
            </a:pPr>
            <a:r>
              <a:rPr lang="en-US" sz="1850" dirty="0">
                <a:solidFill>
                  <a:srgbClr val="000000"/>
                </a:solidFill>
                <a:latin typeface="Instrument Sans Medium" pitchFamily="34" charset="0"/>
                <a:ea typeface="Instrument Sans Medium" pitchFamily="34" charset="-122"/>
                <a:cs typeface="Instrument Sans Medium" pitchFamily="34" charset="-120"/>
              </a:rPr>
              <a:t>from_city (30)</a:t>
            </a:r>
            <a:endParaRPr lang="en-US" sz="1850" dirty="0"/>
          </a:p>
        </p:txBody>
      </p:sp>
      <p:sp>
        <p:nvSpPr>
          <p:cNvPr id="6" name="Text 3"/>
          <p:cNvSpPr/>
          <p:nvPr/>
        </p:nvSpPr>
        <p:spPr>
          <a:xfrm>
            <a:off x="6677319" y="5151771"/>
            <a:ext cx="1796448" cy="300745"/>
          </a:xfrm>
          <a:prstGeom prst="rect">
            <a:avLst/>
          </a:prstGeom>
          <a:noFill/>
          <a:ln/>
        </p:spPr>
        <p:txBody>
          <a:bodyPr wrap="none" lIns="0" tIns="0" rIns="0" bIns="0" rtlCol="0" anchor="t"/>
          <a:lstStyle/>
          <a:p>
            <a:pPr marL="0" indent="0" algn="ctr">
              <a:lnSpc>
                <a:spcPts val="2350"/>
              </a:lnSpc>
              <a:buNone/>
            </a:pPr>
            <a:r>
              <a:rPr lang="en-US" sz="1850" dirty="0">
                <a:solidFill>
                  <a:srgbClr val="000000"/>
                </a:solidFill>
                <a:latin typeface="Instrument Sans Medium" pitchFamily="34" charset="0"/>
                <a:ea typeface="Instrument Sans Medium" pitchFamily="34" charset="-122"/>
                <a:cs typeface="Instrument Sans Medium" pitchFamily="34" charset="-120"/>
              </a:rPr>
              <a:t>to_city (30)</a:t>
            </a:r>
            <a:endParaRPr lang="en-US" sz="1850" dirty="0"/>
          </a:p>
        </p:txBody>
      </p:sp>
      <p:sp>
        <p:nvSpPr>
          <p:cNvPr id="7" name="Text 4"/>
          <p:cNvSpPr/>
          <p:nvPr/>
        </p:nvSpPr>
        <p:spPr>
          <a:xfrm>
            <a:off x="4517304" y="5849122"/>
            <a:ext cx="1689517" cy="601489"/>
          </a:xfrm>
          <a:prstGeom prst="rect">
            <a:avLst/>
          </a:prstGeom>
          <a:noFill/>
          <a:ln/>
        </p:spPr>
        <p:txBody>
          <a:bodyPr wrap="square" lIns="0" tIns="0" rIns="0" bIns="0" rtlCol="0" anchor="t"/>
          <a:lstStyle/>
          <a:p>
            <a:pPr marL="0" indent="0" algn="ctr">
              <a:lnSpc>
                <a:spcPts val="2350"/>
              </a:lnSpc>
              <a:buNone/>
            </a:pPr>
            <a:r>
              <a:rPr lang="en-US" sz="1850" dirty="0">
                <a:solidFill>
                  <a:srgbClr val="000000"/>
                </a:solidFill>
                <a:latin typeface="Instrument Sans Medium" pitchFamily="34" charset="0"/>
                <a:ea typeface="Instrument Sans Medium" pitchFamily="34" charset="-122"/>
                <a:cs typeface="Instrument Sans Medium" pitchFamily="34" charset="-120"/>
              </a:rPr>
              <a:t>dep_hour / dep_min</a:t>
            </a:r>
            <a:endParaRPr lang="en-US" sz="1850" dirty="0"/>
          </a:p>
        </p:txBody>
      </p:sp>
      <p:sp>
        <p:nvSpPr>
          <p:cNvPr id="8" name="Text 5"/>
          <p:cNvSpPr/>
          <p:nvPr/>
        </p:nvSpPr>
        <p:spPr>
          <a:xfrm>
            <a:off x="2474914" y="2461777"/>
            <a:ext cx="1475654" cy="601489"/>
          </a:xfrm>
          <a:prstGeom prst="rect">
            <a:avLst/>
          </a:prstGeom>
          <a:noFill/>
          <a:ln/>
        </p:spPr>
        <p:txBody>
          <a:bodyPr wrap="square" lIns="0" tIns="0" rIns="0" bIns="0" rtlCol="0" anchor="t"/>
          <a:lstStyle/>
          <a:p>
            <a:pPr marL="0" indent="0" algn="ctr">
              <a:lnSpc>
                <a:spcPts val="2350"/>
              </a:lnSpc>
              <a:buNone/>
            </a:pPr>
            <a:r>
              <a:rPr lang="en-US" sz="1850" dirty="0">
                <a:solidFill>
                  <a:srgbClr val="000000"/>
                </a:solidFill>
                <a:latin typeface="Instrument Sans Medium" pitchFamily="34" charset="0"/>
                <a:ea typeface="Instrument Sans Medium" pitchFamily="34" charset="-122"/>
                <a:cs typeface="Instrument Sans Medium" pitchFamily="34" charset="-120"/>
              </a:rPr>
              <a:t>arr_hour / arr_min</a:t>
            </a:r>
            <a:endParaRPr lang="en-US" sz="1850" dirty="0"/>
          </a:p>
        </p:txBody>
      </p:sp>
      <p:sp>
        <p:nvSpPr>
          <p:cNvPr id="9" name="Shape 6"/>
          <p:cNvSpPr/>
          <p:nvPr/>
        </p:nvSpPr>
        <p:spPr>
          <a:xfrm>
            <a:off x="9479875" y="1463040"/>
            <a:ext cx="4594265" cy="6297454"/>
          </a:xfrm>
          <a:prstGeom prst="roundRect">
            <a:avLst>
              <a:gd name="adj" fmla="val 662"/>
            </a:avLst>
          </a:prstGeom>
          <a:solidFill>
            <a:srgbClr val="FDC4C4"/>
          </a:solidFill>
          <a:ln/>
        </p:spPr>
      </p:sp>
      <p:sp>
        <p:nvSpPr>
          <p:cNvPr id="10" name="Text 7"/>
          <p:cNvSpPr/>
          <p:nvPr/>
        </p:nvSpPr>
        <p:spPr>
          <a:xfrm>
            <a:off x="9682639" y="3219807"/>
            <a:ext cx="3041690" cy="380167"/>
          </a:xfrm>
          <a:prstGeom prst="rect">
            <a:avLst/>
          </a:prstGeom>
          <a:noFill/>
          <a:ln/>
        </p:spPr>
        <p:txBody>
          <a:bodyPr wrap="none" lIns="0" tIns="0" rIns="0" bIns="0" rtlCol="0" anchor="t"/>
          <a:lstStyle/>
          <a:p>
            <a:pPr marL="0" indent="0" algn="l">
              <a:lnSpc>
                <a:spcPts val="2950"/>
              </a:lnSpc>
              <a:buNone/>
            </a:pPr>
            <a:r>
              <a:rPr lang="en-US" sz="2350" dirty="0">
                <a:solidFill>
                  <a:srgbClr val="000000"/>
                </a:solidFill>
                <a:latin typeface="Instrument Sans Medium" pitchFamily="34" charset="0"/>
                <a:ea typeface="Instrument Sans Medium" pitchFamily="34" charset="-122"/>
                <a:cs typeface="Instrument Sans Medium" pitchFamily="34" charset="-120"/>
              </a:rPr>
              <a:t>Key Fields</a:t>
            </a:r>
            <a:endParaRPr lang="en-US" sz="2350" dirty="0"/>
          </a:p>
        </p:txBody>
      </p:sp>
      <p:sp>
        <p:nvSpPr>
          <p:cNvPr id="11" name="Text 8"/>
          <p:cNvSpPr/>
          <p:nvPr/>
        </p:nvSpPr>
        <p:spPr>
          <a:xfrm>
            <a:off x="9682639" y="3781187"/>
            <a:ext cx="4188738" cy="2150781"/>
          </a:xfrm>
          <a:prstGeom prst="rect">
            <a:avLst/>
          </a:prstGeom>
          <a:noFill/>
          <a:ln/>
        </p:spPr>
        <p:txBody>
          <a:bodyPr wrap="square" lIns="0" tIns="0" rIns="0" bIns="0" rtlCol="0" anchor="t"/>
          <a:lstStyle/>
          <a:p>
            <a:pPr marL="342900" indent="-342900" algn="l">
              <a:lnSpc>
                <a:spcPts val="2400"/>
              </a:lnSpc>
              <a:buSzPct val="100000"/>
              <a:buChar char="•"/>
            </a:pPr>
            <a:r>
              <a:rPr lang="en-US" sz="1550" b="1" dirty="0">
                <a:solidFill>
                  <a:srgbClr val="000000"/>
                </a:solidFill>
                <a:latin typeface="Inter" pitchFamily="34" charset="0"/>
                <a:ea typeface="Inter" pitchFamily="34" charset="-122"/>
                <a:cs typeface="Inter" pitchFamily="34" charset="-120"/>
              </a:rPr>
              <a:t>bus_id:</a:t>
            </a:r>
            <a:r>
              <a:rPr lang="en-US" sz="1550" dirty="0">
                <a:solidFill>
                  <a:srgbClr val="000000"/>
                </a:solidFill>
                <a:latin typeface="Inter" pitchFamily="34" charset="0"/>
                <a:ea typeface="Inter" pitchFamily="34" charset="-122"/>
                <a:cs typeface="Inter" pitchFamily="34" charset="-120"/>
              </a:rPr>
              <a:t> Unique identifier for each bus</a:t>
            </a:r>
            <a:endParaRPr lang="en-US" sz="1550" dirty="0"/>
          </a:p>
          <a:p>
            <a:pPr marL="342900" indent="-342900" algn="l">
              <a:lnSpc>
                <a:spcPts val="2400"/>
              </a:lnSpc>
              <a:buSzPct val="100000"/>
              <a:buChar char="•"/>
            </a:pPr>
            <a:r>
              <a:rPr lang="en-US" sz="1550" b="1" dirty="0">
                <a:solidFill>
                  <a:srgbClr val="000000"/>
                </a:solidFill>
                <a:latin typeface="Inter" pitchFamily="34" charset="0"/>
                <a:ea typeface="Inter" pitchFamily="34" charset="-122"/>
                <a:cs typeface="Inter" pitchFamily="34" charset="-120"/>
              </a:rPr>
              <a:t>from_city &amp; to_city:</a:t>
            </a:r>
            <a:r>
              <a:rPr lang="en-US" sz="1550" dirty="0">
                <a:solidFill>
                  <a:srgbClr val="000000"/>
                </a:solidFill>
                <a:latin typeface="Inter" pitchFamily="34" charset="0"/>
                <a:ea typeface="Inter" pitchFamily="34" charset="-122"/>
                <a:cs typeface="Inter" pitchFamily="34" charset="-120"/>
              </a:rPr>
              <a:t> Route endpoints (max 30 characters)</a:t>
            </a:r>
            <a:endParaRPr lang="en-US" sz="1550" dirty="0"/>
          </a:p>
          <a:p>
            <a:pPr marL="342900" indent="-342900" algn="l">
              <a:lnSpc>
                <a:spcPts val="2400"/>
              </a:lnSpc>
              <a:buSzPct val="100000"/>
              <a:buChar char="•"/>
            </a:pPr>
            <a:r>
              <a:rPr lang="en-US" sz="1550" b="1" dirty="0">
                <a:solidFill>
                  <a:srgbClr val="000000"/>
                </a:solidFill>
                <a:latin typeface="Inter" pitchFamily="34" charset="0"/>
                <a:ea typeface="Inter" pitchFamily="34" charset="-122"/>
                <a:cs typeface="Inter" pitchFamily="34" charset="-120"/>
              </a:rPr>
              <a:t>Departure/Arrival:</a:t>
            </a:r>
            <a:r>
              <a:rPr lang="en-US" sz="1550" dirty="0">
                <a:solidFill>
                  <a:srgbClr val="000000"/>
                </a:solidFill>
                <a:latin typeface="Inter" pitchFamily="34" charset="0"/>
                <a:ea typeface="Inter" pitchFamily="34" charset="-122"/>
                <a:cs typeface="Inter" pitchFamily="34" charset="-120"/>
              </a:rPr>
              <a:t> Times stored as hour and minute pairs</a:t>
            </a:r>
            <a:endParaRPr lang="en-US" sz="1550" dirty="0"/>
          </a:p>
          <a:p>
            <a:pPr marL="342900" indent="-342900" algn="l">
              <a:lnSpc>
                <a:spcPts val="2400"/>
              </a:lnSpc>
              <a:buSzPct val="100000"/>
              <a:buChar char="•"/>
            </a:pPr>
            <a:r>
              <a:rPr lang="en-US" sz="1550" b="1" dirty="0">
                <a:solidFill>
                  <a:srgbClr val="000000"/>
                </a:solidFill>
                <a:latin typeface="Inter" pitchFamily="34" charset="0"/>
                <a:ea typeface="Inter" pitchFamily="34" charset="-122"/>
                <a:cs typeface="Inter" pitchFamily="34" charset="-120"/>
              </a:rPr>
              <a:t>risk_level:</a:t>
            </a:r>
            <a:r>
              <a:rPr lang="en-US" sz="1550" dirty="0">
                <a:solidFill>
                  <a:srgbClr val="000000"/>
                </a:solidFill>
                <a:latin typeface="Inter" pitchFamily="34" charset="0"/>
                <a:ea typeface="Inter" pitchFamily="34" charset="-122"/>
                <a:cs typeface="Inter" pitchFamily="34" charset="-120"/>
              </a:rPr>
              <a:t> Safety rating from 0 (safest) to 10 (most risky)</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0932" y="624007"/>
            <a:ext cx="1656755" cy="424101"/>
          </a:xfrm>
          <a:prstGeom prst="roundRect">
            <a:avLst>
              <a:gd name="adj" fmla="val 6394"/>
            </a:avLst>
          </a:prstGeom>
          <a:solidFill>
            <a:srgbClr val="4A0303"/>
          </a:solidFill>
          <a:ln/>
        </p:spPr>
      </p:sp>
      <p:sp>
        <p:nvSpPr>
          <p:cNvPr id="3" name="Text 1"/>
          <p:cNvSpPr/>
          <p:nvPr/>
        </p:nvSpPr>
        <p:spPr>
          <a:xfrm>
            <a:off x="926425" y="691753"/>
            <a:ext cx="1385768" cy="288608"/>
          </a:xfrm>
          <a:prstGeom prst="rect">
            <a:avLst/>
          </a:prstGeom>
          <a:noFill/>
          <a:ln/>
        </p:spPr>
        <p:txBody>
          <a:bodyPr wrap="none" lIns="0" tIns="0" rIns="0" bIns="0" rtlCol="0" anchor="t"/>
          <a:lstStyle/>
          <a:p>
            <a:pPr marL="0" indent="0" algn="l">
              <a:lnSpc>
                <a:spcPts val="2250"/>
              </a:lnSpc>
              <a:buNone/>
            </a:pPr>
            <a:r>
              <a:rPr lang="en-US" sz="1400" dirty="0">
                <a:solidFill>
                  <a:srgbClr val="C7CDD6"/>
                </a:solidFill>
                <a:latin typeface="Inter" pitchFamily="34" charset="0"/>
                <a:ea typeface="Inter" pitchFamily="34" charset="-122"/>
                <a:cs typeface="Inter" pitchFamily="34" charset="-120"/>
              </a:rPr>
              <a:t>HOW IT WORKS</a:t>
            </a:r>
            <a:endParaRPr lang="en-US" sz="1400" dirty="0"/>
          </a:p>
        </p:txBody>
      </p:sp>
      <p:sp>
        <p:nvSpPr>
          <p:cNvPr id="4" name="Text 2"/>
          <p:cNvSpPr/>
          <p:nvPr/>
        </p:nvSpPr>
        <p:spPr>
          <a:xfrm>
            <a:off x="790932" y="1138118"/>
            <a:ext cx="7247453" cy="706160"/>
          </a:xfrm>
          <a:prstGeom prst="rect">
            <a:avLst/>
          </a:prstGeom>
          <a:noFill/>
          <a:ln/>
        </p:spPr>
        <p:txBody>
          <a:bodyPr wrap="none" lIns="0" tIns="0" rIns="0" bIns="0" rtlCol="0" anchor="t"/>
          <a:lstStyle/>
          <a:p>
            <a:pPr marL="0" indent="0" algn="l">
              <a:lnSpc>
                <a:spcPts val="5550"/>
              </a:lnSpc>
              <a:buNone/>
            </a:pPr>
            <a:r>
              <a:rPr lang="en-US" sz="4400" dirty="0">
                <a:solidFill>
                  <a:srgbClr val="EFD5FA"/>
                </a:solidFill>
                <a:latin typeface="Instrument Sans Medium" pitchFamily="34" charset="0"/>
                <a:ea typeface="Instrument Sans Medium" pitchFamily="34" charset="-122"/>
                <a:cs typeface="Instrument Sans Medium" pitchFamily="34" charset="-120"/>
              </a:rPr>
              <a:t>Program Flow: Step by Step</a:t>
            </a:r>
            <a:endParaRPr lang="en-US" sz="4400" dirty="0"/>
          </a:p>
        </p:txBody>
      </p:sp>
      <p:pic>
        <p:nvPicPr>
          <p:cNvPr id="5" name="Image 0" descr="preencoded.png"/>
          <p:cNvPicPr>
            <a:picLocks noChangeAspect="1"/>
          </p:cNvPicPr>
          <p:nvPr/>
        </p:nvPicPr>
        <p:blipFill>
          <a:blip r:embed="rId3"/>
          <a:stretch>
            <a:fillRect/>
          </a:stretch>
        </p:blipFill>
        <p:spPr>
          <a:xfrm>
            <a:off x="790932" y="2181939"/>
            <a:ext cx="1129903" cy="1355884"/>
          </a:xfrm>
          <a:prstGeom prst="rect">
            <a:avLst/>
          </a:prstGeom>
        </p:spPr>
      </p:pic>
      <p:sp>
        <p:nvSpPr>
          <p:cNvPr id="6" name="Text 3"/>
          <p:cNvSpPr/>
          <p:nvPr/>
        </p:nvSpPr>
        <p:spPr>
          <a:xfrm>
            <a:off x="2145983" y="2407920"/>
            <a:ext cx="2824877" cy="353139"/>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Initialize Data</a:t>
            </a:r>
            <a:endParaRPr lang="en-US" sz="2200" dirty="0"/>
          </a:p>
        </p:txBody>
      </p:sp>
      <p:sp>
        <p:nvSpPr>
          <p:cNvPr id="7" name="Text 4"/>
          <p:cNvSpPr/>
          <p:nvPr/>
        </p:nvSpPr>
        <p:spPr>
          <a:xfrm>
            <a:off x="2145983" y="2896076"/>
            <a:ext cx="11693485" cy="360878"/>
          </a:xfrm>
          <a:prstGeom prst="rect">
            <a:avLst/>
          </a:prstGeom>
          <a:noFill/>
          <a:ln/>
        </p:spPr>
        <p:txBody>
          <a:bodyPr wrap="none" lIns="0" tIns="0" rIns="0" bIns="0" rtlCol="0" anchor="t"/>
          <a:lstStyle/>
          <a:p>
            <a:pPr marL="0" indent="0" algn="l">
              <a:lnSpc>
                <a:spcPts val="2800"/>
              </a:lnSpc>
              <a:buNone/>
            </a:pPr>
            <a:r>
              <a:rPr lang="en-US" sz="1750" dirty="0">
                <a:solidFill>
                  <a:srgbClr val="C7CDD6"/>
                </a:solidFill>
                <a:latin typeface="Inter" pitchFamily="34" charset="0"/>
                <a:ea typeface="Inter" pitchFamily="34" charset="-122"/>
                <a:cs typeface="Inter" pitchFamily="34" charset="-120"/>
              </a:rPr>
              <a:t>Pre-load 6 buses with routes between Pune, Mumbai, Nashik, and Satara</a:t>
            </a:r>
            <a:endParaRPr lang="en-US" sz="1750" dirty="0"/>
          </a:p>
        </p:txBody>
      </p:sp>
      <p:pic>
        <p:nvPicPr>
          <p:cNvPr id="8" name="Image 1" descr="preencoded.png"/>
          <p:cNvPicPr>
            <a:picLocks noChangeAspect="1"/>
          </p:cNvPicPr>
          <p:nvPr/>
        </p:nvPicPr>
        <p:blipFill>
          <a:blip r:embed="rId4"/>
          <a:stretch>
            <a:fillRect/>
          </a:stretch>
        </p:blipFill>
        <p:spPr>
          <a:xfrm>
            <a:off x="790932" y="3537823"/>
            <a:ext cx="1129903" cy="1355884"/>
          </a:xfrm>
          <a:prstGeom prst="rect">
            <a:avLst/>
          </a:prstGeom>
        </p:spPr>
      </p:pic>
      <p:sp>
        <p:nvSpPr>
          <p:cNvPr id="9" name="Text 5"/>
          <p:cNvSpPr/>
          <p:nvPr/>
        </p:nvSpPr>
        <p:spPr>
          <a:xfrm>
            <a:off x="2145983" y="3763804"/>
            <a:ext cx="2824877" cy="353139"/>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Get User Input</a:t>
            </a:r>
            <a:endParaRPr lang="en-US" sz="2200" dirty="0"/>
          </a:p>
        </p:txBody>
      </p:sp>
      <p:sp>
        <p:nvSpPr>
          <p:cNvPr id="10" name="Text 6"/>
          <p:cNvSpPr/>
          <p:nvPr/>
        </p:nvSpPr>
        <p:spPr>
          <a:xfrm>
            <a:off x="2145983" y="4251960"/>
            <a:ext cx="11693485" cy="360878"/>
          </a:xfrm>
          <a:prstGeom prst="rect">
            <a:avLst/>
          </a:prstGeom>
          <a:noFill/>
          <a:ln/>
        </p:spPr>
        <p:txBody>
          <a:bodyPr wrap="none" lIns="0" tIns="0" rIns="0" bIns="0" rtlCol="0" anchor="t"/>
          <a:lstStyle/>
          <a:p>
            <a:pPr marL="0" indent="0" algn="l">
              <a:lnSpc>
                <a:spcPts val="2800"/>
              </a:lnSpc>
              <a:buNone/>
            </a:pPr>
            <a:r>
              <a:rPr lang="en-US" sz="1750" dirty="0">
                <a:solidFill>
                  <a:srgbClr val="C7CDD6"/>
                </a:solidFill>
                <a:latin typeface="Inter" pitchFamily="34" charset="0"/>
                <a:ea typeface="Inter" pitchFamily="34" charset="-122"/>
                <a:cs typeface="Inter" pitchFamily="34" charset="-120"/>
              </a:rPr>
              <a:t>Request source and destination cities from the traveler</a:t>
            </a:r>
            <a:endParaRPr lang="en-US" sz="1750" dirty="0"/>
          </a:p>
        </p:txBody>
      </p:sp>
      <p:pic>
        <p:nvPicPr>
          <p:cNvPr id="11" name="Image 2" descr="preencoded.png"/>
          <p:cNvPicPr>
            <a:picLocks noChangeAspect="1"/>
          </p:cNvPicPr>
          <p:nvPr/>
        </p:nvPicPr>
        <p:blipFill>
          <a:blip r:embed="rId5"/>
          <a:stretch>
            <a:fillRect/>
          </a:stretch>
        </p:blipFill>
        <p:spPr>
          <a:xfrm>
            <a:off x="790932" y="4893707"/>
            <a:ext cx="1129903" cy="1355884"/>
          </a:xfrm>
          <a:prstGeom prst="rect">
            <a:avLst/>
          </a:prstGeom>
        </p:spPr>
      </p:pic>
      <p:sp>
        <p:nvSpPr>
          <p:cNvPr id="12" name="Text 7"/>
          <p:cNvSpPr/>
          <p:nvPr/>
        </p:nvSpPr>
        <p:spPr>
          <a:xfrm>
            <a:off x="2145983" y="5119687"/>
            <a:ext cx="2824877" cy="353139"/>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Search Direct Routes</a:t>
            </a:r>
            <a:endParaRPr lang="en-US" sz="2200" dirty="0"/>
          </a:p>
        </p:txBody>
      </p:sp>
      <p:sp>
        <p:nvSpPr>
          <p:cNvPr id="13" name="Text 8"/>
          <p:cNvSpPr/>
          <p:nvPr/>
        </p:nvSpPr>
        <p:spPr>
          <a:xfrm>
            <a:off x="2145983" y="5607844"/>
            <a:ext cx="11693485" cy="360878"/>
          </a:xfrm>
          <a:prstGeom prst="rect">
            <a:avLst/>
          </a:prstGeom>
          <a:noFill/>
          <a:ln/>
        </p:spPr>
        <p:txBody>
          <a:bodyPr wrap="none" lIns="0" tIns="0" rIns="0" bIns="0" rtlCol="0" anchor="t"/>
          <a:lstStyle/>
          <a:p>
            <a:pPr marL="0" indent="0" algn="l">
              <a:lnSpc>
                <a:spcPts val="2800"/>
              </a:lnSpc>
              <a:buNone/>
            </a:pPr>
            <a:r>
              <a:rPr lang="en-US" sz="1750" dirty="0">
                <a:solidFill>
                  <a:srgbClr val="C7CDD6"/>
                </a:solidFill>
                <a:latin typeface="Inter" pitchFamily="34" charset="0"/>
                <a:ea typeface="Inter" pitchFamily="34" charset="-122"/>
                <a:cs typeface="Inter" pitchFamily="34" charset="-120"/>
              </a:rPr>
              <a:t>Loop through buses to find matching source and destination</a:t>
            </a:r>
            <a:endParaRPr lang="en-US" sz="1750" dirty="0"/>
          </a:p>
        </p:txBody>
      </p:sp>
      <p:pic>
        <p:nvPicPr>
          <p:cNvPr id="14" name="Image 3" descr="preencoded.png"/>
          <p:cNvPicPr>
            <a:picLocks noChangeAspect="1"/>
          </p:cNvPicPr>
          <p:nvPr/>
        </p:nvPicPr>
        <p:blipFill>
          <a:blip r:embed="rId6"/>
          <a:stretch>
            <a:fillRect/>
          </a:stretch>
        </p:blipFill>
        <p:spPr>
          <a:xfrm>
            <a:off x="790932" y="6249591"/>
            <a:ext cx="1129903" cy="1355884"/>
          </a:xfrm>
          <a:prstGeom prst="rect">
            <a:avLst/>
          </a:prstGeom>
        </p:spPr>
      </p:pic>
      <p:sp>
        <p:nvSpPr>
          <p:cNvPr id="15" name="Text 9"/>
          <p:cNvSpPr/>
          <p:nvPr/>
        </p:nvSpPr>
        <p:spPr>
          <a:xfrm>
            <a:off x="2145983" y="6475571"/>
            <a:ext cx="2855833" cy="353139"/>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Identify Safest Option</a:t>
            </a:r>
            <a:endParaRPr lang="en-US" sz="2200" dirty="0"/>
          </a:p>
        </p:txBody>
      </p:sp>
      <p:sp>
        <p:nvSpPr>
          <p:cNvPr id="16" name="Text 10"/>
          <p:cNvSpPr/>
          <p:nvPr/>
        </p:nvSpPr>
        <p:spPr>
          <a:xfrm>
            <a:off x="2145983" y="6963728"/>
            <a:ext cx="11693485" cy="360878"/>
          </a:xfrm>
          <a:prstGeom prst="rect">
            <a:avLst/>
          </a:prstGeom>
          <a:noFill/>
          <a:ln/>
        </p:spPr>
        <p:txBody>
          <a:bodyPr wrap="none" lIns="0" tIns="0" rIns="0" bIns="0" rtlCol="0" anchor="t"/>
          <a:lstStyle/>
          <a:p>
            <a:pPr marL="0" indent="0" algn="l">
              <a:lnSpc>
                <a:spcPts val="2800"/>
              </a:lnSpc>
              <a:buNone/>
            </a:pPr>
            <a:r>
              <a:rPr lang="en-US" sz="1750" dirty="0">
                <a:solidFill>
                  <a:srgbClr val="C7CDD6"/>
                </a:solidFill>
                <a:latin typeface="Inter" pitchFamily="34" charset="0"/>
                <a:ea typeface="Inter" pitchFamily="34" charset="-122"/>
                <a:cs typeface="Inter" pitchFamily="34" charset="-120"/>
              </a:rPr>
              <a:t>Track the route with lowest risk level and display recommendation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58089"/>
            <a:ext cx="6278761"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The Duration Calculator</a:t>
            </a:r>
            <a:endParaRPr lang="en-US" sz="4450" dirty="0"/>
          </a:p>
        </p:txBody>
      </p:sp>
      <p:sp>
        <p:nvSpPr>
          <p:cNvPr id="3" name="Shape 1"/>
          <p:cNvSpPr/>
          <p:nvPr/>
        </p:nvSpPr>
        <p:spPr>
          <a:xfrm>
            <a:off x="793790" y="3162181"/>
            <a:ext cx="6244709" cy="2154555"/>
          </a:xfrm>
          <a:prstGeom prst="roundRect">
            <a:avLst>
              <a:gd name="adj" fmla="val 1579"/>
            </a:avLst>
          </a:prstGeom>
          <a:solidFill>
            <a:srgbClr val="313136"/>
          </a:solidFill>
          <a:ln/>
        </p:spPr>
      </p:sp>
      <p:sp>
        <p:nvSpPr>
          <p:cNvPr id="4" name="Shape 2"/>
          <p:cNvSpPr/>
          <p:nvPr/>
        </p:nvSpPr>
        <p:spPr>
          <a:xfrm>
            <a:off x="782479" y="3162181"/>
            <a:ext cx="6267331" cy="2154555"/>
          </a:xfrm>
          <a:prstGeom prst="roundRect">
            <a:avLst>
              <a:gd name="adj" fmla="val 1579"/>
            </a:avLst>
          </a:prstGeom>
          <a:solidFill>
            <a:srgbClr val="313136"/>
          </a:solidFill>
          <a:ln/>
        </p:spPr>
      </p:sp>
      <p:sp>
        <p:nvSpPr>
          <p:cNvPr id="5" name="Text 3"/>
          <p:cNvSpPr/>
          <p:nvPr/>
        </p:nvSpPr>
        <p:spPr>
          <a:xfrm>
            <a:off x="1009293" y="3332202"/>
            <a:ext cx="5813703" cy="1814513"/>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highlight>
                  <a:srgbClr val="313136"/>
                </a:highlight>
                <a:latin typeface="Consolas" pitchFamily="34" charset="0"/>
                <a:ea typeface="Consolas" pitchFamily="34" charset="-122"/>
                <a:cs typeface="Consolas" pitchFamily="34" charset="-120"/>
              </a:rPr>
              <a:t>int calculateDuration(struct Bus b) {</a:t>
            </a:r>
            <a:endParaRPr lang="en-US" sz="1750" dirty="0"/>
          </a:p>
          <a:p>
            <a:pPr marL="0" indent="0" algn="l">
              <a:lnSpc>
                <a:spcPts val="2850"/>
              </a:lnSpc>
              <a:buNone/>
            </a:pPr>
            <a:r>
              <a:rPr lang="en-US" sz="1750" dirty="0">
                <a:solidFill>
                  <a:srgbClr val="C7CDD6"/>
                </a:solidFill>
                <a:highlight>
                  <a:srgbClr val="313136"/>
                </a:highlight>
                <a:latin typeface="Consolas" pitchFamily="34" charset="0"/>
                <a:ea typeface="Consolas" pitchFamily="34" charset="-122"/>
                <a:cs typeface="Consolas" pitchFamily="34" charset="-120"/>
              </a:rPr>
              <a:t>  int dep = b.dep_hour * 60 + b.dep_min;</a:t>
            </a:r>
            <a:endParaRPr lang="en-US" sz="1750" dirty="0"/>
          </a:p>
          <a:p>
            <a:pPr marL="0" indent="0" algn="l">
              <a:lnSpc>
                <a:spcPts val="2850"/>
              </a:lnSpc>
              <a:buNone/>
            </a:pPr>
            <a:r>
              <a:rPr lang="en-US" sz="1750" dirty="0">
                <a:solidFill>
                  <a:srgbClr val="C7CDD6"/>
                </a:solidFill>
                <a:highlight>
                  <a:srgbClr val="313136"/>
                </a:highlight>
                <a:latin typeface="Consolas" pitchFamily="34" charset="0"/>
                <a:ea typeface="Consolas" pitchFamily="34" charset="-122"/>
                <a:cs typeface="Consolas" pitchFamily="34" charset="-120"/>
              </a:rPr>
              <a:t>  int arr = b.arr_hour * 60 + b.arr_min;</a:t>
            </a:r>
            <a:endParaRPr lang="en-US" sz="1750" dirty="0"/>
          </a:p>
          <a:p>
            <a:pPr marL="0" indent="0" algn="l">
              <a:lnSpc>
                <a:spcPts val="2850"/>
              </a:lnSpc>
              <a:buNone/>
            </a:pPr>
            <a:r>
              <a:rPr lang="en-US" sz="1750" dirty="0">
                <a:solidFill>
                  <a:srgbClr val="C7CDD6"/>
                </a:solidFill>
                <a:highlight>
                  <a:srgbClr val="313136"/>
                </a:highlight>
                <a:latin typeface="Consolas" pitchFamily="34" charset="0"/>
                <a:ea typeface="Consolas" pitchFamily="34" charset="-122"/>
                <a:cs typeface="Consolas" pitchFamily="34" charset="-120"/>
              </a:rPr>
              <a:t>  return arr - dep;</a:t>
            </a:r>
            <a:endParaRPr lang="en-US" sz="1750" dirty="0"/>
          </a:p>
          <a:p>
            <a:pPr marL="0" indent="0" algn="l">
              <a:lnSpc>
                <a:spcPts val="2850"/>
              </a:lnSpc>
              <a:buNone/>
            </a:pPr>
            <a:r>
              <a:rPr lang="en-US" sz="1750" dirty="0">
                <a:solidFill>
                  <a:srgbClr val="C7CDD6"/>
                </a:solidFill>
                <a:highlight>
                  <a:srgbClr val="313136"/>
                </a:highlight>
                <a:latin typeface="Consolas" pitchFamily="34" charset="0"/>
                <a:ea typeface="Consolas" pitchFamily="34" charset="-122"/>
                <a:cs typeface="Consolas" pitchFamily="34" charset="-120"/>
              </a:rPr>
              <a:t>}</a:t>
            </a:r>
            <a:endParaRPr lang="en-US" sz="1750" dirty="0"/>
          </a:p>
        </p:txBody>
      </p:sp>
      <p:sp>
        <p:nvSpPr>
          <p:cNvPr id="6" name="Text 4"/>
          <p:cNvSpPr/>
          <p:nvPr/>
        </p:nvSpPr>
        <p:spPr>
          <a:xfrm>
            <a:off x="7599521" y="3133844"/>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EFD5FA"/>
                </a:solidFill>
                <a:latin typeface="Instrument Sans Medium" pitchFamily="34" charset="0"/>
                <a:ea typeface="Instrument Sans Medium" pitchFamily="34" charset="-122"/>
                <a:cs typeface="Instrument Sans Medium" pitchFamily="34" charset="-120"/>
              </a:rPr>
              <a:t>How It Works</a:t>
            </a:r>
            <a:endParaRPr lang="en-US" sz="2650" dirty="0"/>
          </a:p>
        </p:txBody>
      </p:sp>
      <p:sp>
        <p:nvSpPr>
          <p:cNvPr id="7" name="Text 5"/>
          <p:cNvSpPr/>
          <p:nvPr/>
        </p:nvSpPr>
        <p:spPr>
          <a:xfrm>
            <a:off x="7599521" y="3785949"/>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This function converts departure and arrival times into total minutes since midnight, then calculates the difference.</a:t>
            </a:r>
            <a:endParaRPr lang="en-US" sz="1750" dirty="0"/>
          </a:p>
        </p:txBody>
      </p:sp>
      <p:sp>
        <p:nvSpPr>
          <p:cNvPr id="8" name="Text 6"/>
          <p:cNvSpPr/>
          <p:nvPr/>
        </p:nvSpPr>
        <p:spPr>
          <a:xfrm>
            <a:off x="7599521" y="5078730"/>
            <a:ext cx="6244709" cy="1088708"/>
          </a:xfrm>
          <a:prstGeom prst="rect">
            <a:avLst/>
          </a:prstGeom>
          <a:noFill/>
          <a:ln/>
        </p:spPr>
        <p:txBody>
          <a:bodyPr wrap="square" lIns="0" tIns="0" rIns="0" bIns="0" rtlCol="0" anchor="t"/>
          <a:lstStyle/>
          <a:p>
            <a:pPr marL="0" indent="0" algn="l">
              <a:lnSpc>
                <a:spcPts val="2850"/>
              </a:lnSpc>
              <a:buNone/>
            </a:pPr>
            <a:r>
              <a:rPr lang="en-US" sz="1750" b="1" dirty="0">
                <a:solidFill>
                  <a:srgbClr val="C7CDD6"/>
                </a:solidFill>
                <a:latin typeface="Inter" pitchFamily="34" charset="0"/>
                <a:ea typeface="Inter" pitchFamily="34" charset="-122"/>
                <a:cs typeface="Inter" pitchFamily="34" charset="-120"/>
              </a:rPr>
              <a:t>Example:</a:t>
            </a:r>
            <a:r>
              <a:rPr lang="en-US" sz="1750" dirty="0">
                <a:solidFill>
                  <a:srgbClr val="C7CDD6"/>
                </a:solidFill>
                <a:latin typeface="Inter" pitchFamily="34" charset="0"/>
                <a:ea typeface="Inter" pitchFamily="34" charset="-122"/>
                <a:cs typeface="Inter" pitchFamily="34" charset="-120"/>
              </a:rPr>
              <a:t> If a bus departs at 6:30 (390 minutes) and arrives at 10:30 (630 minutes), the duration is 240 minutes (4 hours).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035504"/>
            <a:ext cx="6806565"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Direct Route Search Logic</a:t>
            </a:r>
            <a:endParaRPr lang="en-US" sz="4450" dirty="0"/>
          </a:p>
        </p:txBody>
      </p:sp>
      <p:sp>
        <p:nvSpPr>
          <p:cNvPr id="4" name="Text 1"/>
          <p:cNvSpPr/>
          <p:nvPr/>
        </p:nvSpPr>
        <p:spPr>
          <a:xfrm>
            <a:off x="793790" y="5084445"/>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The program uses strcmp() to compare city names. When both from_city and to_city match the user's input, that bus is displayed. The system tracks the lowest risk_level found to recommend the safest direct option.</a:t>
            </a:r>
            <a:endParaRPr lang="en-US" sz="1750" dirty="0"/>
          </a:p>
        </p:txBody>
      </p:sp>
      <p:sp>
        <p:nvSpPr>
          <p:cNvPr id="5" name="Shape 2"/>
          <p:cNvSpPr/>
          <p:nvPr/>
        </p:nvSpPr>
        <p:spPr>
          <a:xfrm>
            <a:off x="793790" y="6065401"/>
            <a:ext cx="13042821" cy="963811"/>
          </a:xfrm>
          <a:prstGeom prst="roundRect">
            <a:avLst>
              <a:gd name="adj" fmla="val 3530"/>
            </a:avLst>
          </a:prstGeom>
          <a:solidFill>
            <a:srgbClr val="4A0303"/>
          </a:solidFill>
          <a:ln/>
        </p:spPr>
      </p:sp>
      <p:pic>
        <p:nvPicPr>
          <p:cNvPr id="6" name="Image 1" descr="preencoded.png"/>
          <p:cNvPicPr>
            <a:picLocks noChangeAspect="1"/>
          </p:cNvPicPr>
          <p:nvPr/>
        </p:nvPicPr>
        <p:blipFill>
          <a:blip r:embed="rId4"/>
          <a:stretch>
            <a:fillRect/>
          </a:stretch>
        </p:blipFill>
        <p:spPr>
          <a:xfrm>
            <a:off x="1020604" y="6409492"/>
            <a:ext cx="283488" cy="226814"/>
          </a:xfrm>
          <a:prstGeom prst="rect">
            <a:avLst/>
          </a:prstGeom>
        </p:spPr>
      </p:pic>
      <p:sp>
        <p:nvSpPr>
          <p:cNvPr id="7" name="Text 3"/>
          <p:cNvSpPr/>
          <p:nvPr/>
        </p:nvSpPr>
        <p:spPr>
          <a:xfrm>
            <a:off x="1530906" y="6348889"/>
            <a:ext cx="12078891"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Inter" pitchFamily="34" charset="0"/>
                <a:ea typeface="Inter" pitchFamily="34" charset="-122"/>
                <a:cs typeface="Inter" pitchFamily="34" charset="-120"/>
              </a:rPr>
              <a:t>The strcmp() function returns 0 when strings match exactly, which is why we check "== 0" in the condition.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1055251"/>
            <a:ext cx="2123242" cy="426244"/>
          </a:xfrm>
          <a:prstGeom prst="roundRect">
            <a:avLst>
              <a:gd name="adj" fmla="val 6386"/>
            </a:avLst>
          </a:prstGeom>
          <a:solidFill>
            <a:srgbClr val="4A0303"/>
          </a:solidFill>
          <a:ln/>
        </p:spPr>
      </p:sp>
      <p:sp>
        <p:nvSpPr>
          <p:cNvPr id="3" name="Text 1"/>
          <p:cNvSpPr/>
          <p:nvPr/>
        </p:nvSpPr>
        <p:spPr>
          <a:xfrm>
            <a:off x="929878" y="1123236"/>
            <a:ext cx="1851065" cy="290274"/>
          </a:xfrm>
          <a:prstGeom prst="rect">
            <a:avLst/>
          </a:prstGeom>
          <a:noFill/>
          <a:ln/>
        </p:spPr>
        <p:txBody>
          <a:bodyPr wrap="none" lIns="0" tIns="0" rIns="0" bIns="0" rtlCol="0" anchor="t"/>
          <a:lstStyle/>
          <a:p>
            <a:pPr marL="0" indent="0" algn="l">
              <a:lnSpc>
                <a:spcPts val="2250"/>
              </a:lnSpc>
              <a:buNone/>
            </a:pPr>
            <a:r>
              <a:rPr lang="en-US" sz="1400" dirty="0">
                <a:solidFill>
                  <a:srgbClr val="C7CDD6"/>
                </a:solidFill>
                <a:latin typeface="Inter" pitchFamily="34" charset="0"/>
                <a:ea typeface="Inter" pitchFamily="34" charset="-122"/>
                <a:cs typeface="Inter" pitchFamily="34" charset="-120"/>
              </a:rPr>
              <a:t>ADVANCED FEATURE</a:t>
            </a:r>
            <a:endParaRPr lang="en-US" sz="1400" dirty="0"/>
          </a:p>
        </p:txBody>
      </p:sp>
      <p:sp>
        <p:nvSpPr>
          <p:cNvPr id="4" name="Text 2"/>
          <p:cNvSpPr/>
          <p:nvPr/>
        </p:nvSpPr>
        <p:spPr>
          <a:xfrm>
            <a:off x="793790" y="1572220"/>
            <a:ext cx="6242447"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Two-Hop Route Finding</a:t>
            </a:r>
            <a:endParaRPr lang="en-US" sz="4450" dirty="0"/>
          </a:p>
        </p:txBody>
      </p:sp>
      <p:sp>
        <p:nvSpPr>
          <p:cNvPr id="5" name="Text 3"/>
          <p:cNvSpPr/>
          <p:nvPr/>
        </p:nvSpPr>
        <p:spPr>
          <a:xfrm>
            <a:off x="793790" y="2847975"/>
            <a:ext cx="3795593" cy="425291"/>
          </a:xfrm>
          <a:prstGeom prst="rect">
            <a:avLst/>
          </a:prstGeom>
          <a:noFill/>
          <a:ln/>
        </p:spPr>
        <p:txBody>
          <a:bodyPr wrap="none" lIns="0" tIns="0" rIns="0" bIns="0" rtlCol="0" anchor="t"/>
          <a:lstStyle/>
          <a:p>
            <a:pPr marL="0" indent="0" algn="l">
              <a:lnSpc>
                <a:spcPts val="3300"/>
              </a:lnSpc>
              <a:buNone/>
            </a:pPr>
            <a:r>
              <a:rPr lang="en-US" sz="2650" dirty="0">
                <a:solidFill>
                  <a:srgbClr val="EFD5FA"/>
                </a:solidFill>
                <a:latin typeface="Instrument Sans Medium" pitchFamily="34" charset="0"/>
                <a:ea typeface="Instrument Sans Medium" pitchFamily="34" charset="-122"/>
                <a:cs typeface="Instrument Sans Medium" pitchFamily="34" charset="-120"/>
              </a:rPr>
              <a:t>When Direct Routes Fail</a:t>
            </a:r>
            <a:endParaRPr lang="en-US" sz="2650" dirty="0"/>
          </a:p>
        </p:txBody>
      </p:sp>
      <p:sp>
        <p:nvSpPr>
          <p:cNvPr id="6" name="Text 4"/>
          <p:cNvSpPr/>
          <p:nvPr/>
        </p:nvSpPr>
        <p:spPr>
          <a:xfrm>
            <a:off x="793790" y="3500080"/>
            <a:ext cx="4205168" cy="1814513"/>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If no direct bus exists, the program searches for connecting routes using nested loops. It checks if any bus's destination matches another bus's origin.</a:t>
            </a:r>
            <a:endParaRPr lang="en-US" sz="1750" dirty="0"/>
          </a:p>
        </p:txBody>
      </p:sp>
      <p:sp>
        <p:nvSpPr>
          <p:cNvPr id="7" name="Text 5"/>
          <p:cNvSpPr/>
          <p:nvPr/>
        </p:nvSpPr>
        <p:spPr>
          <a:xfrm>
            <a:off x="793790" y="5518666"/>
            <a:ext cx="4205168" cy="1451610"/>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The algorithm calculates combined risk (hop1 + hop2) and selects the safest two-bus combination to complete the journey.</a:t>
            </a:r>
            <a:endParaRPr lang="en-US" sz="1750" dirty="0"/>
          </a:p>
        </p:txBody>
      </p:sp>
      <p:pic>
        <p:nvPicPr>
          <p:cNvPr id="8" name="Image 0" descr="preencoded.png"/>
          <p:cNvPicPr>
            <a:picLocks noChangeAspect="1"/>
          </p:cNvPicPr>
          <p:nvPr/>
        </p:nvPicPr>
        <p:blipFill>
          <a:blip r:embed="rId3"/>
          <a:stretch>
            <a:fillRect/>
          </a:stretch>
        </p:blipFill>
        <p:spPr>
          <a:xfrm>
            <a:off x="6610231" y="3062764"/>
            <a:ext cx="6183630" cy="3669982"/>
          </a:xfrm>
          <a:prstGeom prst="rect">
            <a:avLst/>
          </a:prstGeom>
        </p:spPr>
      </p:pic>
      <p:pic>
        <p:nvPicPr>
          <p:cNvPr id="9"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383117" y="3959769"/>
            <a:ext cx="526403" cy="526404"/>
          </a:xfrm>
          <a:prstGeom prst="rect">
            <a:avLst/>
          </a:prstGeom>
        </p:spPr>
      </p:pic>
      <p:sp>
        <p:nvSpPr>
          <p:cNvPr id="10" name="Text 6"/>
          <p:cNvSpPr/>
          <p:nvPr/>
        </p:nvSpPr>
        <p:spPr>
          <a:xfrm>
            <a:off x="10914124" y="5733422"/>
            <a:ext cx="1537100" cy="592205"/>
          </a:xfrm>
          <a:prstGeom prst="rect">
            <a:avLst/>
          </a:prstGeom>
          <a:noFill/>
          <a:ln/>
        </p:spPr>
        <p:txBody>
          <a:bodyPr wrap="square" lIns="0" tIns="0" rIns="0" bIns="0" rtlCol="0" anchor="t"/>
          <a:lstStyle/>
          <a:p>
            <a:pPr marL="0" indent="0" algn="ctr">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Choose Lowest Risk</a:t>
            </a:r>
            <a:endParaRPr lang="en-US" sz="1850" dirty="0"/>
          </a:p>
        </p:txBody>
      </p:sp>
      <p:pic>
        <p:nvPicPr>
          <p:cNvPr id="11"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9455984" y="3960755"/>
            <a:ext cx="526404" cy="526404"/>
          </a:xfrm>
          <a:prstGeom prst="rect">
            <a:avLst/>
          </a:prstGeom>
        </p:spPr>
      </p:pic>
      <p:sp>
        <p:nvSpPr>
          <p:cNvPr id="12" name="Text 7"/>
          <p:cNvSpPr/>
          <p:nvPr/>
        </p:nvSpPr>
        <p:spPr>
          <a:xfrm>
            <a:off x="8976955" y="5733422"/>
            <a:ext cx="1537101" cy="592205"/>
          </a:xfrm>
          <a:prstGeom prst="rect">
            <a:avLst/>
          </a:prstGeom>
          <a:noFill/>
          <a:ln/>
        </p:spPr>
        <p:txBody>
          <a:bodyPr wrap="square" lIns="0" tIns="0" rIns="0" bIns="0" rtlCol="0" anchor="t"/>
          <a:lstStyle/>
          <a:p>
            <a:pPr marL="0" indent="0" algn="ctr">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Find Second-Hop</a:t>
            </a:r>
            <a:endParaRPr lang="en-US" sz="1850" dirty="0"/>
          </a:p>
        </p:txBody>
      </p:sp>
      <p:pic>
        <p:nvPicPr>
          <p:cNvPr id="13"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7518816" y="3960755"/>
            <a:ext cx="526405" cy="526404"/>
          </a:xfrm>
          <a:prstGeom prst="rect">
            <a:avLst/>
          </a:prstGeom>
        </p:spPr>
      </p:pic>
      <p:sp>
        <p:nvSpPr>
          <p:cNvPr id="14" name="Text 8"/>
          <p:cNvSpPr/>
          <p:nvPr/>
        </p:nvSpPr>
        <p:spPr>
          <a:xfrm>
            <a:off x="7008204" y="5733422"/>
            <a:ext cx="1537101" cy="592205"/>
          </a:xfrm>
          <a:prstGeom prst="rect">
            <a:avLst/>
          </a:prstGeom>
          <a:noFill/>
          <a:ln/>
        </p:spPr>
        <p:txBody>
          <a:bodyPr wrap="square" lIns="0" tIns="0" rIns="0" bIns="0" rtlCol="0" anchor="t"/>
          <a:lstStyle/>
          <a:p>
            <a:pPr marL="0" indent="0" algn="ctr">
              <a:lnSpc>
                <a:spcPts val="230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Find First-Hop</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123837"/>
            <a:ext cx="7310676"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Safety Features &amp; Warnings</a:t>
            </a:r>
            <a:endParaRPr lang="en-US" sz="4450" dirty="0"/>
          </a:p>
        </p:txBody>
      </p:sp>
      <p:sp>
        <p:nvSpPr>
          <p:cNvPr id="3" name="Shape 1"/>
          <p:cNvSpPr/>
          <p:nvPr/>
        </p:nvSpPr>
        <p:spPr>
          <a:xfrm>
            <a:off x="793790" y="3286244"/>
            <a:ext cx="4196358" cy="2819519"/>
          </a:xfrm>
          <a:prstGeom prst="roundRect">
            <a:avLst>
              <a:gd name="adj" fmla="val 5189"/>
            </a:avLst>
          </a:prstGeom>
          <a:solidFill>
            <a:srgbClr val="242429"/>
          </a:solidFill>
          <a:ln w="30480">
            <a:solidFill>
              <a:srgbClr val="5C5C61"/>
            </a:solidFill>
            <a:prstDash val="solid"/>
          </a:ln>
        </p:spPr>
      </p:sp>
      <p:sp>
        <p:nvSpPr>
          <p:cNvPr id="4" name="Shape 2"/>
          <p:cNvSpPr/>
          <p:nvPr/>
        </p:nvSpPr>
        <p:spPr>
          <a:xfrm>
            <a:off x="763310" y="3286244"/>
            <a:ext cx="121920" cy="2819519"/>
          </a:xfrm>
          <a:prstGeom prst="roundRect">
            <a:avLst>
              <a:gd name="adj" fmla="val 27907"/>
            </a:avLst>
          </a:prstGeom>
          <a:solidFill>
            <a:srgbClr val="FDC4C4"/>
          </a:solidFill>
          <a:ln/>
        </p:spPr>
      </p:sp>
      <p:sp>
        <p:nvSpPr>
          <p:cNvPr id="5" name="Text 3"/>
          <p:cNvSpPr/>
          <p:nvPr/>
        </p:nvSpPr>
        <p:spPr>
          <a:xfrm>
            <a:off x="1142524" y="35435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Risk Assessment</a:t>
            </a:r>
            <a:endParaRPr lang="en-US" sz="2200" dirty="0"/>
          </a:p>
        </p:txBody>
      </p:sp>
      <p:sp>
        <p:nvSpPr>
          <p:cNvPr id="6" name="Text 4"/>
          <p:cNvSpPr/>
          <p:nvPr/>
        </p:nvSpPr>
        <p:spPr>
          <a:xfrm>
            <a:off x="1142524" y="4033957"/>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Each bus has a risk_level (0-10). Lower values indicate safer routes based on factors like road conditions and accident history.</a:t>
            </a:r>
            <a:endParaRPr lang="en-US" sz="1750" dirty="0"/>
          </a:p>
        </p:txBody>
      </p:sp>
      <p:sp>
        <p:nvSpPr>
          <p:cNvPr id="7" name="Shape 5"/>
          <p:cNvSpPr/>
          <p:nvPr/>
        </p:nvSpPr>
        <p:spPr>
          <a:xfrm>
            <a:off x="5216962" y="3286244"/>
            <a:ext cx="4196358" cy="2819519"/>
          </a:xfrm>
          <a:prstGeom prst="roundRect">
            <a:avLst>
              <a:gd name="adj" fmla="val 5189"/>
            </a:avLst>
          </a:prstGeom>
          <a:solidFill>
            <a:srgbClr val="242429"/>
          </a:solidFill>
          <a:ln w="30480">
            <a:solidFill>
              <a:srgbClr val="5C5C61"/>
            </a:solidFill>
            <a:prstDash val="solid"/>
          </a:ln>
        </p:spPr>
      </p:sp>
      <p:sp>
        <p:nvSpPr>
          <p:cNvPr id="8" name="Shape 6"/>
          <p:cNvSpPr/>
          <p:nvPr/>
        </p:nvSpPr>
        <p:spPr>
          <a:xfrm>
            <a:off x="5186482" y="3286244"/>
            <a:ext cx="121920" cy="2819519"/>
          </a:xfrm>
          <a:prstGeom prst="roundRect">
            <a:avLst>
              <a:gd name="adj" fmla="val 27907"/>
            </a:avLst>
          </a:prstGeom>
          <a:solidFill>
            <a:srgbClr val="FDC4C4"/>
          </a:solidFill>
          <a:ln/>
        </p:spPr>
      </p:sp>
      <p:sp>
        <p:nvSpPr>
          <p:cNvPr id="9" name="Text 7"/>
          <p:cNvSpPr/>
          <p:nvPr/>
        </p:nvSpPr>
        <p:spPr>
          <a:xfrm>
            <a:off x="5565696" y="35435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Threshold Alert</a:t>
            </a:r>
            <a:endParaRPr lang="en-US" sz="2200" dirty="0"/>
          </a:p>
        </p:txBody>
      </p:sp>
      <p:sp>
        <p:nvSpPr>
          <p:cNvPr id="10" name="Text 8"/>
          <p:cNvSpPr/>
          <p:nvPr/>
        </p:nvSpPr>
        <p:spPr>
          <a:xfrm>
            <a:off x="5565696" y="4033957"/>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SAFETY_THRESHOLD is set to 12. Routes exceeding this combined risk trigger a warning: "Travel not advised due to high safety risk."</a:t>
            </a:r>
            <a:endParaRPr lang="en-US" sz="1750" dirty="0"/>
          </a:p>
        </p:txBody>
      </p:sp>
      <p:sp>
        <p:nvSpPr>
          <p:cNvPr id="11" name="Shape 9"/>
          <p:cNvSpPr/>
          <p:nvPr/>
        </p:nvSpPr>
        <p:spPr>
          <a:xfrm>
            <a:off x="9640133" y="3286244"/>
            <a:ext cx="4196358" cy="2819519"/>
          </a:xfrm>
          <a:prstGeom prst="roundRect">
            <a:avLst>
              <a:gd name="adj" fmla="val 5189"/>
            </a:avLst>
          </a:prstGeom>
          <a:solidFill>
            <a:srgbClr val="242429"/>
          </a:solidFill>
          <a:ln w="30480">
            <a:solidFill>
              <a:srgbClr val="5C5C61"/>
            </a:solidFill>
            <a:prstDash val="solid"/>
          </a:ln>
        </p:spPr>
      </p:sp>
      <p:sp>
        <p:nvSpPr>
          <p:cNvPr id="12" name="Shape 10"/>
          <p:cNvSpPr/>
          <p:nvPr/>
        </p:nvSpPr>
        <p:spPr>
          <a:xfrm>
            <a:off x="9609653" y="3286244"/>
            <a:ext cx="121920" cy="2819519"/>
          </a:xfrm>
          <a:prstGeom prst="roundRect">
            <a:avLst>
              <a:gd name="adj" fmla="val 27907"/>
            </a:avLst>
          </a:prstGeom>
          <a:solidFill>
            <a:srgbClr val="FDC4C4"/>
          </a:solidFill>
          <a:ln/>
        </p:spPr>
      </p:sp>
      <p:sp>
        <p:nvSpPr>
          <p:cNvPr id="13" name="Text 11"/>
          <p:cNvSpPr/>
          <p:nvPr/>
        </p:nvSpPr>
        <p:spPr>
          <a:xfrm>
            <a:off x="9988868" y="35435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User Guidance</a:t>
            </a:r>
            <a:endParaRPr lang="en-US" sz="2200" dirty="0"/>
          </a:p>
        </p:txBody>
      </p:sp>
      <p:sp>
        <p:nvSpPr>
          <p:cNvPr id="14" name="Text 12"/>
          <p:cNvSpPr/>
          <p:nvPr/>
        </p:nvSpPr>
        <p:spPr>
          <a:xfrm>
            <a:off x="9988868" y="4033957"/>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The program displays </a:t>
            </a:r>
            <a:r>
              <a:rPr lang="en-US" sz="1750" dirty="0">
                <a:solidFill>
                  <a:srgbClr val="000000"/>
                </a:solidFill>
                <a:latin typeface="Inter" pitchFamily="34" charset="0"/>
                <a:ea typeface="Inter" pitchFamily="34" charset="-122"/>
                <a:cs typeface="Inter" pitchFamily="34" charset="-120"/>
              </a:rPr>
              <a:t>✅</a:t>
            </a:r>
            <a:r>
              <a:rPr lang="en-US" sz="1750" dirty="0">
                <a:solidFill>
                  <a:srgbClr val="C7CDD6"/>
                </a:solidFill>
                <a:latin typeface="Inter" pitchFamily="34" charset="0"/>
                <a:ea typeface="Inter" pitchFamily="34" charset="-122"/>
                <a:cs typeface="Inter" pitchFamily="34" charset="-120"/>
              </a:rPr>
              <a:t> for safe options and </a:t>
            </a:r>
            <a:r>
              <a:rPr lang="en-US" sz="1750" dirty="0">
                <a:solidFill>
                  <a:srgbClr val="000000"/>
                </a:solidFill>
                <a:latin typeface="Inter" pitchFamily="34" charset="0"/>
                <a:ea typeface="Inter" pitchFamily="34" charset="-122"/>
                <a:cs typeface="Inter" pitchFamily="34" charset="-120"/>
              </a:rPr>
              <a:t>⚠</a:t>
            </a:r>
            <a:r>
              <a:rPr lang="en-US" sz="1750" dirty="0">
                <a:solidFill>
                  <a:srgbClr val="C7CDD6"/>
                </a:solidFill>
                <a:latin typeface="Inter" pitchFamily="34" charset="0"/>
                <a:ea typeface="Inter" pitchFamily="34" charset="-122"/>
                <a:cs typeface="Inter" pitchFamily="34" charset="-120"/>
              </a:rPr>
              <a:t> symbols for risky routes, helping users make informed decisions.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441252"/>
            <a:ext cx="8911233" cy="708779"/>
          </a:xfrm>
          <a:prstGeom prst="rect">
            <a:avLst/>
          </a:prstGeom>
          <a:noFill/>
          <a:ln/>
        </p:spPr>
        <p:txBody>
          <a:bodyPr wrap="none" lIns="0" tIns="0" rIns="0" bIns="0" rtlCol="0" anchor="t"/>
          <a:lstStyle/>
          <a:p>
            <a:pPr marL="0" indent="0" algn="l">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Key Programming Concepts Used</a:t>
            </a:r>
            <a:endParaRPr lang="en-US" sz="4450" dirty="0"/>
          </a:p>
        </p:txBody>
      </p:sp>
      <p:pic>
        <p:nvPicPr>
          <p:cNvPr id="3" name="Image 0" descr="preencoded.png"/>
          <p:cNvPicPr>
            <a:picLocks noChangeAspect="1"/>
          </p:cNvPicPr>
          <p:nvPr/>
        </p:nvPicPr>
        <p:blipFill>
          <a:blip r:embed="rId3"/>
          <a:stretch>
            <a:fillRect/>
          </a:stretch>
        </p:blipFill>
        <p:spPr>
          <a:xfrm>
            <a:off x="793790" y="2603659"/>
            <a:ext cx="1341120" cy="1341120"/>
          </a:xfrm>
          <a:prstGeom prst="rect">
            <a:avLst/>
          </a:prstGeom>
        </p:spPr>
      </p:pic>
      <p:sp>
        <p:nvSpPr>
          <p:cNvPr id="4" name="Text 1"/>
          <p:cNvSpPr/>
          <p:nvPr/>
        </p:nvSpPr>
        <p:spPr>
          <a:xfrm>
            <a:off x="793790" y="422826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Arrays &amp; Structs</a:t>
            </a:r>
            <a:endParaRPr lang="en-US" sz="2200" dirty="0"/>
          </a:p>
        </p:txBody>
      </p:sp>
      <p:sp>
        <p:nvSpPr>
          <p:cNvPr id="5" name="Text 2"/>
          <p:cNvSpPr/>
          <p:nvPr/>
        </p:nvSpPr>
        <p:spPr>
          <a:xfrm>
            <a:off x="793790" y="4718685"/>
            <a:ext cx="3048000"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Stores multiple bus records efficiently using structured data</a:t>
            </a:r>
            <a:endParaRPr lang="en-US" sz="1750" dirty="0"/>
          </a:p>
        </p:txBody>
      </p:sp>
      <p:pic>
        <p:nvPicPr>
          <p:cNvPr id="6" name="Image 1" descr="preencoded.png"/>
          <p:cNvPicPr>
            <a:picLocks noChangeAspect="1"/>
          </p:cNvPicPr>
          <p:nvPr/>
        </p:nvPicPr>
        <p:blipFill>
          <a:blip r:embed="rId4"/>
          <a:stretch>
            <a:fillRect/>
          </a:stretch>
        </p:blipFill>
        <p:spPr>
          <a:xfrm>
            <a:off x="4578846" y="2603659"/>
            <a:ext cx="1341120" cy="1341120"/>
          </a:xfrm>
          <a:prstGeom prst="rect">
            <a:avLst/>
          </a:prstGeom>
        </p:spPr>
      </p:pic>
      <p:sp>
        <p:nvSpPr>
          <p:cNvPr id="7" name="Text 3"/>
          <p:cNvSpPr/>
          <p:nvPr/>
        </p:nvSpPr>
        <p:spPr>
          <a:xfrm>
            <a:off x="4125278" y="422826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Nested Loops</a:t>
            </a:r>
            <a:endParaRPr lang="en-US" sz="2200" dirty="0"/>
          </a:p>
        </p:txBody>
      </p:sp>
      <p:sp>
        <p:nvSpPr>
          <p:cNvPr id="8" name="Text 4"/>
          <p:cNvSpPr/>
          <p:nvPr/>
        </p:nvSpPr>
        <p:spPr>
          <a:xfrm>
            <a:off x="4125278" y="4718685"/>
            <a:ext cx="3048119"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Searches through combinations for two-hop routes</a:t>
            </a:r>
            <a:endParaRPr lang="en-US" sz="1750" dirty="0"/>
          </a:p>
        </p:txBody>
      </p:sp>
      <p:pic>
        <p:nvPicPr>
          <p:cNvPr id="9" name="Image 2" descr="preencoded.png"/>
          <p:cNvPicPr>
            <a:picLocks noChangeAspect="1"/>
          </p:cNvPicPr>
          <p:nvPr/>
        </p:nvPicPr>
        <p:blipFill>
          <a:blip r:embed="rId5"/>
          <a:stretch>
            <a:fillRect/>
          </a:stretch>
        </p:blipFill>
        <p:spPr>
          <a:xfrm>
            <a:off x="7456884" y="2603659"/>
            <a:ext cx="1341120" cy="1341120"/>
          </a:xfrm>
          <a:prstGeom prst="rect">
            <a:avLst/>
          </a:prstGeom>
        </p:spPr>
      </p:pic>
      <p:sp>
        <p:nvSpPr>
          <p:cNvPr id="10" name="Text 5"/>
          <p:cNvSpPr/>
          <p:nvPr/>
        </p:nvSpPr>
        <p:spPr>
          <a:xfrm>
            <a:off x="7456884" y="422826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String Comparison</a:t>
            </a:r>
            <a:endParaRPr lang="en-US" sz="2200" dirty="0"/>
          </a:p>
        </p:txBody>
      </p:sp>
      <p:sp>
        <p:nvSpPr>
          <p:cNvPr id="11" name="Text 6"/>
          <p:cNvSpPr/>
          <p:nvPr/>
        </p:nvSpPr>
        <p:spPr>
          <a:xfrm>
            <a:off x="7456884" y="4718685"/>
            <a:ext cx="3048119"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Uses strcmp() to match city names accurately</a:t>
            </a:r>
            <a:endParaRPr lang="en-US" sz="1750" dirty="0"/>
          </a:p>
        </p:txBody>
      </p:sp>
      <p:pic>
        <p:nvPicPr>
          <p:cNvPr id="12" name="Image 3" descr="preencoded.png"/>
          <p:cNvPicPr>
            <a:picLocks noChangeAspect="1"/>
          </p:cNvPicPr>
          <p:nvPr/>
        </p:nvPicPr>
        <p:blipFill>
          <a:blip r:embed="rId3"/>
          <a:stretch>
            <a:fillRect/>
          </a:stretch>
        </p:blipFill>
        <p:spPr>
          <a:xfrm>
            <a:off x="10788491" y="2603659"/>
            <a:ext cx="1341120" cy="1341120"/>
          </a:xfrm>
          <a:prstGeom prst="rect">
            <a:avLst/>
          </a:prstGeom>
        </p:spPr>
      </p:pic>
      <p:sp>
        <p:nvSpPr>
          <p:cNvPr id="13" name="Text 7"/>
          <p:cNvSpPr/>
          <p:nvPr/>
        </p:nvSpPr>
        <p:spPr>
          <a:xfrm>
            <a:off x="10788491" y="422826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Functions</a:t>
            </a:r>
            <a:endParaRPr lang="en-US" sz="2200" dirty="0"/>
          </a:p>
        </p:txBody>
      </p:sp>
      <p:sp>
        <p:nvSpPr>
          <p:cNvPr id="14" name="Text 8"/>
          <p:cNvSpPr/>
          <p:nvPr/>
        </p:nvSpPr>
        <p:spPr>
          <a:xfrm>
            <a:off x="10788491" y="4718685"/>
            <a:ext cx="3048119" cy="1088708"/>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Modular design with calculateDuration() helper function</a:t>
            </a:r>
            <a:endParaRPr lang="en-US" sz="1750" dirty="0"/>
          </a:p>
        </p:txBody>
      </p:sp>
      <p:sp>
        <p:nvSpPr>
          <p:cNvPr id="15" name="Text 9"/>
          <p:cNvSpPr/>
          <p:nvPr/>
        </p:nvSpPr>
        <p:spPr>
          <a:xfrm>
            <a:off x="793790" y="606254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C7CDD6"/>
                </a:solidFill>
                <a:latin typeface="Inter" pitchFamily="34" charset="0"/>
                <a:ea typeface="Inter" pitchFamily="34" charset="-122"/>
                <a:cs typeface="Inter" pitchFamily="34" charset="-120"/>
              </a:rPr>
              <a:t>This project demonstrates practical application of fundamental C programming concepts while solving a real-world problem: finding safe travel routes. </a:t>
            </a:r>
            <a:r>
              <a:rPr lang="en-US" sz="1750" dirty="0">
                <a:solidFill>
                  <a:srgbClr val="000000"/>
                </a:solidFill>
                <a:latin typeface="Inter" pitchFamily="34" charset="0"/>
                <a:ea typeface="Inter" pitchFamily="34" charset="-122"/>
                <a:cs typeface="Inter" pitchFamily="34" charset="-120"/>
              </a:rPr>
              <a:t>🚍</a:t>
            </a:r>
            <a:endParaRPr lang="en-US" sz="1750" dirty="0"/>
          </a:p>
        </p:txBody>
      </p:sp>
      <p:pic>
        <p:nvPicPr>
          <p:cNvPr id="1026" name="Picture 2" descr="Array Representation in Data Structures - GeeksforGeeks">
            <a:extLst>
              <a:ext uri="{FF2B5EF4-FFF2-40B4-BE49-F238E27FC236}">
                <a16:creationId xmlns:a16="http://schemas.microsoft.com/office/drawing/2014/main" id="{B723AA47-5D2A-49B6-AB61-53DA505777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08" y="2631997"/>
            <a:ext cx="3548563" cy="13411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 Functions | GeeksforGeeks">
            <a:extLst>
              <a:ext uri="{FF2B5EF4-FFF2-40B4-BE49-F238E27FC236}">
                <a16:creationId xmlns:a16="http://schemas.microsoft.com/office/drawing/2014/main" id="{12E6F539-3BB8-4C88-AE3E-0FD4BD2346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58993" y="2433519"/>
            <a:ext cx="4812632" cy="1667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